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Proxima Nova"/>
      <p:regular r:id="rId20"/>
      <p:bold r:id="rId21"/>
      <p:italic r:id="rId22"/>
      <p:boldItalic r:id="rId23"/>
    </p:embeddedFont>
    <p:embeddedFont>
      <p:font typeface="Proxima Nova Semibold"/>
      <p:regular r:id="rId24"/>
      <p:bold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regular.fntdata"/><Relationship Id="rId22" Type="http://schemas.openxmlformats.org/officeDocument/2006/relationships/font" Target="fonts/ProximaNova-italic.fntdata"/><Relationship Id="rId21" Type="http://schemas.openxmlformats.org/officeDocument/2006/relationships/font" Target="fonts/ProximaNova-bold.fntdata"/><Relationship Id="rId24" Type="http://schemas.openxmlformats.org/officeDocument/2006/relationships/font" Target="fonts/ProximaNovaSemibold-regular.fntdata"/><Relationship Id="rId23" Type="http://schemas.openxmlformats.org/officeDocument/2006/relationships/font" Target="fonts/ProximaNova-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roximaNovaSemibold-boldItalic.fntdata"/><Relationship Id="rId25" Type="http://schemas.openxmlformats.org/officeDocument/2006/relationships/font" Target="fonts/ProximaNovaSemibold-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0c6e609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0c6e609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0c6e6095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0c6e6095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0c6e6095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0c6e6095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a9fc083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a9fc083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0c6e6095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0c6e6095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SLIDES_API43864669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SLIDES_API43864669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l"/>
              <a:t>Thinking Broadly</a:t>
            </a:r>
            <a:endParaRPr b="1"/>
          </a:p>
          <a:p>
            <a:pPr indent="0" lvl="0" marL="0" rtl="0" algn="l">
              <a:spcBef>
                <a:spcPts val="0"/>
              </a:spcBef>
              <a:spcAft>
                <a:spcPts val="0"/>
              </a:spcAft>
              <a:buNone/>
            </a:pPr>
            <a:r>
              <a:rPr lang="el"/>
              <a:t>Identifying and articulating questions we have is an important thinking skill. Give students the opportunity to think broadly about today’s topic and identify their own questions. Show their responses anonymously on the projector to discuss.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l">
                <a:solidFill>
                  <a:schemeClr val="dk1"/>
                </a:solidFill>
              </a:rPr>
              <a:t>🍐 This is a Pear Deck Text Slide </a:t>
            </a:r>
            <a:endParaRPr>
              <a:solidFill>
                <a:schemeClr val="dk1"/>
              </a:solidFill>
            </a:endParaRPr>
          </a:p>
          <a:p>
            <a:pPr indent="0" lvl="0" marL="0" rtl="0" algn="l">
              <a:spcBef>
                <a:spcPts val="0"/>
              </a:spcBef>
              <a:spcAft>
                <a:spcPts val="0"/>
              </a:spcAft>
              <a:buClr>
                <a:schemeClr val="dk1"/>
              </a:buClr>
              <a:buSzPts val="1100"/>
              <a:buFont typeface="Arial"/>
              <a:buNone/>
            </a:pPr>
            <a:r>
              <a:rPr lang="el">
                <a:solidFill>
                  <a:schemeClr val="dk1"/>
                </a:solidFill>
              </a:rPr>
              <a:t>🍐 To edit the type of question, go back to the "Ask Students a Question" in the Pear Deck sidebar.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SLIDES_API81432218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SLIDES_API81432218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l">
                <a:solidFill>
                  <a:schemeClr val="dk1"/>
                </a:solidFill>
              </a:rPr>
              <a:t>Mind Map</a:t>
            </a:r>
            <a:endParaRPr b="1">
              <a:solidFill>
                <a:schemeClr val="dk1"/>
              </a:solidFill>
            </a:endParaRPr>
          </a:p>
          <a:p>
            <a:pPr indent="0" lvl="0" marL="0" rtl="0" algn="l">
              <a:spcBef>
                <a:spcPts val="0"/>
              </a:spcBef>
              <a:spcAft>
                <a:spcPts val="0"/>
              </a:spcAft>
              <a:buClr>
                <a:schemeClr val="dk1"/>
              </a:buClr>
              <a:buSzPts val="1100"/>
              <a:buFont typeface="Arial"/>
              <a:buNone/>
            </a:pPr>
            <a:r>
              <a:rPr lang="el">
                <a:solidFill>
                  <a:schemeClr val="dk1"/>
                </a:solidFill>
              </a:rPr>
              <a:t>Starting with a central idea, give students time to branch out their thoughts visually to help build connections.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l">
                <a:solidFill>
                  <a:schemeClr val="dk1"/>
                </a:solidFill>
              </a:rPr>
              <a:t>🍐 This is a Pear Deck Drawing Slide </a:t>
            </a:r>
            <a:endParaRPr>
              <a:solidFill>
                <a:schemeClr val="dk1"/>
              </a:solidFill>
            </a:endParaRPr>
          </a:p>
          <a:p>
            <a:pPr indent="0" lvl="0" marL="0" rtl="0" algn="l">
              <a:spcBef>
                <a:spcPts val="0"/>
              </a:spcBef>
              <a:spcAft>
                <a:spcPts val="0"/>
              </a:spcAft>
              <a:buClr>
                <a:schemeClr val="dk1"/>
              </a:buClr>
              <a:buSzPts val="1100"/>
              <a:buFont typeface="Arial"/>
              <a:buNone/>
            </a:pPr>
            <a:r>
              <a:rPr lang="el">
                <a:solidFill>
                  <a:schemeClr val="dk1"/>
                </a:solidFill>
              </a:rPr>
              <a:t>🍐 To edit the type of question, go back to the "Ask Students a Question" in the Pear Deck sidebar.</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SLIDES_API1428212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SLIDES_API1428212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l"/>
              <a:t>🍐 This is a Pear Deck Text Slide</a:t>
            </a:r>
            <a:endParaRPr b="1"/>
          </a:p>
          <a:p>
            <a:pPr indent="0" lvl="0" marL="0" rtl="0" algn="l">
              <a:spcBef>
                <a:spcPts val="0"/>
              </a:spcBef>
              <a:spcAft>
                <a:spcPts val="0"/>
              </a:spcAft>
              <a:buNone/>
            </a:pPr>
            <a:r>
              <a:rPr b="1" lang="el"/>
              <a:t>Instructions Template</a:t>
            </a:r>
            <a:endParaRPr b="1"/>
          </a:p>
          <a:p>
            <a:pPr indent="0" lvl="0" marL="0" rtl="0" algn="l">
              <a:spcBef>
                <a:spcPts val="0"/>
              </a:spcBef>
              <a:spcAft>
                <a:spcPts val="0"/>
              </a:spcAft>
              <a:buNone/>
            </a:pPr>
            <a:r>
              <a:rPr b="1" lang="el"/>
              <a:t>Use this template to display instructions for your activity. Everyone works at a different pace. Help students who finish early know appropriate ways to use their time. For example, maybe you want them to help their peers, discuss with a peer, move on to a more advanced activity, or do some quiet reading.</a:t>
            </a:r>
            <a:endParaRPr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0cf28c1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0cf28c1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a9fc0839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aa9fc0839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0c6e6095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0c6e6095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SLIDES_API178029308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SLIDES_API178029308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l">
                <a:solidFill>
                  <a:schemeClr val="dk1"/>
                </a:solidFill>
              </a:rPr>
              <a:t>Takeaway</a:t>
            </a:r>
            <a:endParaRPr b="1">
              <a:solidFill>
                <a:schemeClr val="dk1"/>
              </a:solidFill>
            </a:endParaRPr>
          </a:p>
          <a:p>
            <a:pPr indent="0" lvl="0" marL="0" rtl="0" algn="l">
              <a:spcBef>
                <a:spcPts val="0"/>
              </a:spcBef>
              <a:spcAft>
                <a:spcPts val="0"/>
              </a:spcAft>
              <a:buNone/>
            </a:pPr>
            <a:r>
              <a:rPr lang="el">
                <a:solidFill>
                  <a:schemeClr val="dk1"/>
                </a:solidFill>
              </a:rPr>
              <a:t>Use this template to help students articulate and retain their biggest takeaways from the 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l">
                <a:solidFill>
                  <a:schemeClr val="dk1"/>
                </a:solidFill>
              </a:rPr>
              <a:t>🍐 This is a Pear Deck Text Slide </a:t>
            </a:r>
            <a:endParaRPr>
              <a:solidFill>
                <a:schemeClr val="dk1"/>
              </a:solidFill>
            </a:endParaRPr>
          </a:p>
          <a:p>
            <a:pPr indent="0" lvl="0" marL="0" rtl="0" algn="l">
              <a:spcBef>
                <a:spcPts val="0"/>
              </a:spcBef>
              <a:spcAft>
                <a:spcPts val="0"/>
              </a:spcAft>
              <a:buNone/>
            </a:pPr>
            <a:r>
              <a:rPr lang="el">
                <a:solidFill>
                  <a:schemeClr val="dk1"/>
                </a:solidFill>
              </a:rPr>
              <a:t>🍐 To edit the type of question, go back to the "Ask Students a Question" in the Pear Deck sidebar.</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 Section header">
  <p:cSld name="SECTION_HEADER_1">
    <p:spTree>
      <p:nvGrpSpPr>
        <p:cNvPr id="95" name="Shape 95"/>
        <p:cNvGrpSpPr/>
        <p:nvPr/>
      </p:nvGrpSpPr>
      <p:grpSpPr>
        <a:xfrm>
          <a:off x="0" y="0"/>
          <a:ext cx="0" cy="0"/>
          <a:chOff x="0" y="0"/>
          <a:chExt cx="0" cy="0"/>
        </a:xfrm>
      </p:grpSpPr>
      <p:sp>
        <p:nvSpPr>
          <p:cNvPr id="96" name="Google Shape;96;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FFFFFF"/>
              </a:buClr>
              <a:buSzPts val="3600"/>
              <a:buNone/>
              <a:defRPr sz="3600">
                <a:solidFill>
                  <a:srgbClr val="FFFFFF"/>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7" name="Google Shape;97;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 Section header">
  <p:cSld name="SECTION_HEADER_1_1">
    <p:spTree>
      <p:nvGrpSpPr>
        <p:cNvPr id="98" name="Shape 98"/>
        <p:cNvGrpSpPr/>
        <p:nvPr/>
      </p:nvGrpSpPr>
      <p:grpSpPr>
        <a:xfrm>
          <a:off x="0" y="0"/>
          <a:ext cx="0" cy="0"/>
          <a:chOff x="0" y="0"/>
          <a:chExt cx="0" cy="0"/>
        </a:xfrm>
      </p:grpSpPr>
      <p:sp>
        <p:nvSpPr>
          <p:cNvPr id="99" name="Google Shape;99;p2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FFFFFF"/>
              </a:buClr>
              <a:buSzPts val="3600"/>
              <a:buNone/>
              <a:defRPr sz="3600">
                <a:solidFill>
                  <a:srgbClr val="FFFFFF"/>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00" name="Google Shape;100;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 Section header">
  <p:cSld name="SECTION_HEADER_1_1_1">
    <p:spTree>
      <p:nvGrpSpPr>
        <p:cNvPr id="101" name="Shape 101"/>
        <p:cNvGrpSpPr/>
        <p:nvPr/>
      </p:nvGrpSpPr>
      <p:grpSpPr>
        <a:xfrm>
          <a:off x="0" y="0"/>
          <a:ext cx="0" cy="0"/>
          <a:chOff x="0" y="0"/>
          <a:chExt cx="0" cy="0"/>
        </a:xfrm>
      </p:grpSpPr>
      <p:sp>
        <p:nvSpPr>
          <p:cNvPr id="102" name="Google Shape;102;p2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0A3534"/>
              </a:buClr>
              <a:buSzPts val="3600"/>
              <a:buNone/>
              <a:defRPr sz="3600">
                <a:solidFill>
                  <a:srgbClr val="0A3534"/>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03" name="Google Shape;103;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theme" Target="../theme/theme1.xml"/><Relationship Id="rId14" Type="http://schemas.openxmlformats.org/officeDocument/2006/relationships/slideLayout" Target="../slideLayouts/slideLayout2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l"/>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hyperlink" Target="http://dontchangethislink.peardeckmagic.zone?eyJ0eXBlIjoiZnJlZVJlc3BvbnNlLXRleHQiLCJkcmFnZ2FibGVzIjpbeyJpZCI6ImRyYWdnYWJsZTAiLCJ0eXBlIjoiaWNvbiIsImljb24iOnsiaWQiOiJkZWZhdWx0LWNpcmNsZSJ9LCJjb2xvciI6IiNENTFEMjgifV0sImRyYWdnYWJsZVNpemUiOjEyLjU1LCJlbWJlZGRhYmxlVXJsIjoiaHR0cHM6Ly8iLCJhbnN3ZXJzIjpbXX0=pearId=magic-pear-shape-identifier" TargetMode="External"/><Relationship Id="rId6" Type="http://schemas.openxmlformats.org/officeDocument/2006/relationships/image" Target="../media/image11.png"/><Relationship Id="rId7" Type="http://schemas.openxmlformats.org/officeDocument/2006/relationships/hyperlink" Target="http://dontchangethislink.peardeckmagic.zone?eyJ0eXBlIjoiZ29vZ2xlLXNsaWRlcy1hZGRvbi10ZW1wbGF0ZS1saWJyYXJ5IiwiY29udGVudElkIjoiaHR0cHM6Ly9kb2NzLmdvb2dsZS5jb20vcHJlc2VudGF0aW9uL2QvMWZUYlB4ZTN3ZzA1ekVDTE5MR0lxcm5MQUt4cWlUZGhlV2F4N1gyRC1mMVUvZWRpdCNzbGlkZT1pZC5TTElERVNfQVBJNDkyNDI1MTk3XzAiLCJzbGlkZUlkIjoiU0xJREVTX0FQSTQ5MjQyNTE5N18wIiwicHJlc2VudGF0aW9uSWQiOiIxZlRiUHhlM3dnMDV6RUNMTkxHSXFybkxBS3hxaVRkaGVXYXg3WDJELWYxVSIsImxhc3RFZGl0ZWRCeSI6IjExMDc1NzUyMjMzMzA3OTU5ODkyMiIsImNvbnRlbnRJbnN0YW5jZUlkIjoiZmMyZjVlNDA5N2I2NDZkM2FjYTE3ZWU3NmZjZjg1ODYifQ==pearId=magic-pear-metadata-identifie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hyperlink" Target="http://dontchangethislink.peardeckmagic.zone?eyJ0eXBlIjoiZnJlZWhhbmREcmF3aW5nIiwiZHJhZ2dhYmxlcyI6W3siaWQiOiJkcmFnZ2FibGUwIiwidHlwZSI6Imljb24iLCJpY29uIjp7ImlkIjoiZGVmYXVsdC1jaXJjbGUifSwiY29sb3IiOiIjRDUxRDI4In1dLCJkcmFnZ2FibGVTaXplIjoxMi41NSwiZW1iZWRkYWJsZVVybCI6Imh0dHBzOi8vIiwiYW5zd2VycyI6W119pearId=magic-pear-shape-identifier" TargetMode="External"/><Relationship Id="rId5" Type="http://schemas.openxmlformats.org/officeDocument/2006/relationships/image" Target="../media/image6.png"/><Relationship Id="rId6" Type="http://schemas.openxmlformats.org/officeDocument/2006/relationships/hyperlink" Target="http://dontchangethislink.peardeckmagic.zone?eyJ0eXBlIjoiZ29vZ2xlLXNsaWRlcy1hZGRvbi10ZW1wbGF0ZS1saWJyYXJ5IiwiY29udGVudElkIjoiaHR0cHM6Ly9kb2NzLmdvb2dsZS5jb20vcHJlc2VudGF0aW9uL2QvMW5rZUR4aGhMSk1RUnpkYkxmUDFZR1pNeVhXdkZsSDZ6bFJsSWY2aEZnVWsvZWRpdCNzbGlkZT1pZC5nNWMyZTJlZGFjMl8wXzE1MiIsInNsaWRlSWQiOiJnNWMyZTJlZGFjMl8wXzE1MiIsInByZXNlbnRhdGlvbklkIjoiMW5rZUR4aGhMSk1RUnpkYkxmUDFZR1pNeVhXdkZsSDZ6bFJsSWY2aEZnVWsiLCJsYXN0RWRpdGVkQnkiOiIxMTA3NTc1MjIzMzMwNzk1OTg5MjIiLCJjb250ZW50SW5zdGFuY2VJZCI6IjJiZDY0YzM2MjY2MzQ0YTliNzU4OGRhZGNhMzUxNTMxIn0=pearId=magic-pear-metadata-identifier"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hyperlink" Target="http://dontchangethislink.peardeckmagic.zone?eyJ0eXBlIjoiZnJlZVJlc3BvbnNlLXRleHQiLCJkcmFnZ2FibGVUZXh0Rm9udFNpemUiOjE4fQ==pearId=magic-pear-shape-identifier" TargetMode="External"/><Relationship Id="rId6" Type="http://schemas.openxmlformats.org/officeDocument/2006/relationships/image" Target="../media/image10.png"/><Relationship Id="rId7" Type="http://schemas.openxmlformats.org/officeDocument/2006/relationships/hyperlink" Target="http://dontchangethislink.peardeckmagic.zone?eyJ0eXBlIjoiZ29vZ2xlLXNsaWRlcy1hZGRvbi1yZXNwb25zZS1mb290ZXIiLCJsYXN0RWRpdGVkQnkiOiIxMTA3NTc1MjIzMzMwNzk1OTg5MjIiLCJwcmVzZW50YXRpb25JZCI6IjF4c1lNN0U4S01KbUxneUZINmNoTEZIbWRzOVdUY1dnV2ozWnpUdEpkUF9vIiwiY29udGVudElkIjoiY3VzdG9tLXJlc3BvbnNlLWZyZWVSZXNwb25zZS10ZXh0Iiwic2xpZGVJZCI6IlNMSURFU19BUEkxNDI4MjEyOF8wIiwiY29udGVudEluc3RhbmNlSWQiOiIxeHNZTTdFOEtNSm1MZ3lGSDZjaExGSG1kczlXVGNXZ1dqM1p6VHRKZFBfby9mOGQwNTA4NS1mOGJhLTRkNTUtOGNmOS02YWI2ZmRkOWI4ZjYifQ==pearId=magic-pear-metadata-identifie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hyperlink" Target="http://dontchangethislink.peardeckmagic.zone?eyJ0eXBlIjoiZnJlZVJlc3BvbnNlLXRleHQiLCJkcmFnZ2FibGVzIjpbeyJpZCI6ImRyYWdnYWJsZTAiLCJ0eXBlIjoiaWNvbiIsImljb24iOnsiaWQiOiJkZWZhdWx0LWNpcmNsZSJ9LCJjb2xvciI6IiNENTFEMjgifV0sImRyYWdnYWJsZVNpemUiOjEyLjU1LCJlbWJlZGRhYmxlVXJsIjoiaHR0cHM6Ly8iLCJhbnN3ZXJzIjpbXX0=pearId=magic-pear-shape-identifier" TargetMode="External"/><Relationship Id="rId5" Type="http://schemas.openxmlformats.org/officeDocument/2006/relationships/image" Target="../media/image11.png"/><Relationship Id="rId6" Type="http://schemas.openxmlformats.org/officeDocument/2006/relationships/hyperlink" Target="http://dontchangethislink.peardeckmagic.zone?eyJ0eXBlIjoiZ29vZ2xlLXNsaWRlcy1hZGRvbi10ZW1wbGF0ZS1saWJyYXJ5IiwiY29udGVudElkIjoiaHR0cHM6Ly9kb2NzLmdvb2dsZS5jb20vcHJlc2VudGF0aW9uL2QvMTBaWVlfMFRMR1hLNTh2NjRIeDBnWjk0ZWJQS3l4Y3M3MDkxYjhPY3pKMk0vZWRpdCNzbGlkZT1pZC5nNWMyZGFmZjgwY18wXzAiLCJzbGlkZUlkIjoiZzVjMmRhZmY4MGNfMF8wIiwicHJlc2VudGF0aW9uSWQiOiIxMFpZWV8wVExHWEs1OHY2NEh4MGdaOTRlYlBLeXhjczcwOTFiOE9jekoyTSIsImxhc3RFZGl0ZWRCeSI6IjExMDc1NzUyMjMzMzA3OTU5ODkyMiIsImNvbnRlbnRJbnN0YW5jZUlkIjoiOGI1MGM1ZmZlODdiNGVlZjlkODk0YjZhYTQ1MjAyMmUifQ==pearId=magic-pear-metadata-identifie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8"/>
          <p:cNvSpPr txBox="1"/>
          <p:nvPr>
            <p:ph type="ctrTitle"/>
          </p:nvPr>
        </p:nvSpPr>
        <p:spPr>
          <a:xfrm>
            <a:off x="341250" y="1342850"/>
            <a:ext cx="8520600" cy="969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l" sz="3600"/>
              <a:t>Session Topic: Writing Effective Learning Objectives-using Bloom’s Taxonomy</a:t>
            </a:r>
            <a:endParaRPr sz="3600"/>
          </a:p>
        </p:txBody>
      </p:sp>
      <p:sp>
        <p:nvSpPr>
          <p:cNvPr id="109" name="Google Shape;109;p28"/>
          <p:cNvSpPr txBox="1"/>
          <p:nvPr>
            <p:ph idx="1" type="subTitle"/>
          </p:nvPr>
        </p:nvSpPr>
        <p:spPr>
          <a:xfrm>
            <a:off x="230450" y="2472200"/>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TAE Trainer: Marie Gerantonis</a:t>
            </a:r>
            <a:endParaRPr/>
          </a:p>
        </p:txBody>
      </p:sp>
      <p:sp>
        <p:nvSpPr>
          <p:cNvPr id="110" name="Google Shape;110;p28"/>
          <p:cNvSpPr txBox="1"/>
          <p:nvPr/>
        </p:nvSpPr>
        <p:spPr>
          <a:xfrm>
            <a:off x="5997525" y="192050"/>
            <a:ext cx="2864400" cy="7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111" name="Google Shape;111;p28" title="Στιγμιότυπο οθόνης 2025-11-06 122313.png"/>
          <p:cNvPicPr preferRelativeResize="0"/>
          <p:nvPr/>
        </p:nvPicPr>
        <p:blipFill>
          <a:blip r:embed="rId3">
            <a:alphaModFix/>
          </a:blip>
          <a:stretch>
            <a:fillRect/>
          </a:stretch>
        </p:blipFill>
        <p:spPr>
          <a:xfrm>
            <a:off x="5997525" y="108225"/>
            <a:ext cx="2886075" cy="1123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9"/>
          <p:cNvSpPr txBox="1"/>
          <p:nvPr>
            <p:ph type="title"/>
          </p:nvPr>
        </p:nvSpPr>
        <p:spPr>
          <a:xfrm>
            <a:off x="311700" y="380100"/>
            <a:ext cx="5870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Acknowledgement of Country</a:t>
            </a:r>
            <a:endParaRPr/>
          </a:p>
        </p:txBody>
      </p:sp>
      <p:sp>
        <p:nvSpPr>
          <p:cNvPr id="117" name="Google Shape;117;p29"/>
          <p:cNvSpPr txBox="1"/>
          <p:nvPr>
            <p:ph idx="1" type="body"/>
          </p:nvPr>
        </p:nvSpPr>
        <p:spPr>
          <a:xfrm>
            <a:off x="267375" y="1181775"/>
            <a:ext cx="8520600" cy="372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                                                          </a:t>
            </a:r>
            <a:r>
              <a:rPr lang="el"/>
              <a:t>I would like to take the time to pay respect to, </a:t>
            </a:r>
            <a:endParaRPr/>
          </a:p>
          <a:p>
            <a:pPr indent="0" lvl="0" marL="0" rtl="0" algn="l">
              <a:spcBef>
                <a:spcPts val="1200"/>
              </a:spcBef>
              <a:spcAft>
                <a:spcPts val="0"/>
              </a:spcAft>
              <a:buNone/>
            </a:pPr>
            <a:r>
              <a:rPr lang="el"/>
              <a:t>                                                          and acknowledge, the Wurundjeri people of</a:t>
            </a:r>
            <a:endParaRPr/>
          </a:p>
          <a:p>
            <a:pPr indent="0" lvl="0" marL="0" rtl="0" algn="l">
              <a:spcBef>
                <a:spcPts val="1200"/>
              </a:spcBef>
              <a:spcAft>
                <a:spcPts val="0"/>
              </a:spcAft>
              <a:buNone/>
            </a:pPr>
            <a:r>
              <a:rPr lang="el"/>
              <a:t>                                                          the Kulin Nation as the Traditional Owners of</a:t>
            </a:r>
            <a:endParaRPr/>
          </a:p>
          <a:p>
            <a:pPr indent="0" lvl="0" marL="0" rtl="0" algn="l">
              <a:spcBef>
                <a:spcPts val="1200"/>
              </a:spcBef>
              <a:spcAft>
                <a:spcPts val="0"/>
              </a:spcAft>
              <a:buNone/>
            </a:pPr>
            <a:r>
              <a:rPr lang="el"/>
              <a:t>                                                          the land we are on today. I extend that </a:t>
            </a:r>
            <a:endParaRPr/>
          </a:p>
          <a:p>
            <a:pPr indent="0" lvl="0" marL="0" rtl="0" algn="l">
              <a:spcBef>
                <a:spcPts val="1200"/>
              </a:spcBef>
              <a:spcAft>
                <a:spcPts val="0"/>
              </a:spcAft>
              <a:buNone/>
            </a:pPr>
            <a:r>
              <a:rPr lang="el"/>
              <a:t>                                                          respect to Elders, past and present, to </a:t>
            </a:r>
            <a:endParaRPr/>
          </a:p>
          <a:p>
            <a:pPr indent="0" lvl="0" marL="0" rtl="0" algn="l">
              <a:spcBef>
                <a:spcPts val="1200"/>
              </a:spcBef>
              <a:spcAft>
                <a:spcPts val="0"/>
              </a:spcAft>
              <a:buNone/>
            </a:pPr>
            <a:r>
              <a:rPr lang="el"/>
              <a:t>                                                          leaders emerging, and to all Indigenous </a:t>
            </a:r>
            <a:endParaRPr/>
          </a:p>
          <a:p>
            <a:pPr indent="0" lvl="0" marL="0" rtl="0" algn="l">
              <a:spcBef>
                <a:spcPts val="1200"/>
              </a:spcBef>
              <a:spcAft>
                <a:spcPts val="1200"/>
              </a:spcAft>
              <a:buNone/>
            </a:pPr>
            <a:r>
              <a:rPr lang="el"/>
              <a:t>                                                          people here today.</a:t>
            </a:r>
            <a:endParaRPr/>
          </a:p>
        </p:txBody>
      </p:sp>
      <p:pic>
        <p:nvPicPr>
          <p:cNvPr id="118" name="Google Shape;118;p29"/>
          <p:cNvPicPr preferRelativeResize="0"/>
          <p:nvPr/>
        </p:nvPicPr>
        <p:blipFill>
          <a:blip r:embed="rId3">
            <a:alphaModFix/>
          </a:blip>
          <a:stretch>
            <a:fillRect/>
          </a:stretch>
        </p:blipFill>
        <p:spPr>
          <a:xfrm>
            <a:off x="670123" y="1071225"/>
            <a:ext cx="2705275" cy="1624850"/>
          </a:xfrm>
          <a:prstGeom prst="rect">
            <a:avLst/>
          </a:prstGeom>
          <a:noFill/>
          <a:ln>
            <a:noFill/>
          </a:ln>
        </p:spPr>
      </p:pic>
      <p:pic>
        <p:nvPicPr>
          <p:cNvPr id="119" name="Google Shape;119;p29"/>
          <p:cNvPicPr preferRelativeResize="0"/>
          <p:nvPr/>
        </p:nvPicPr>
        <p:blipFill>
          <a:blip r:embed="rId4">
            <a:alphaModFix/>
          </a:blip>
          <a:stretch>
            <a:fillRect/>
          </a:stretch>
        </p:blipFill>
        <p:spPr>
          <a:xfrm>
            <a:off x="670125" y="2872625"/>
            <a:ext cx="2705284" cy="1624850"/>
          </a:xfrm>
          <a:prstGeom prst="rect">
            <a:avLst/>
          </a:prstGeom>
          <a:noFill/>
          <a:ln>
            <a:noFill/>
          </a:ln>
        </p:spPr>
      </p:pic>
      <p:pic>
        <p:nvPicPr>
          <p:cNvPr id="120" name="Google Shape;120;p29" title="Στιγμιότυπο οθόνης 2025-11-06 122313.png"/>
          <p:cNvPicPr preferRelativeResize="0"/>
          <p:nvPr/>
        </p:nvPicPr>
        <p:blipFill>
          <a:blip r:embed="rId5">
            <a:alphaModFix/>
          </a:blip>
          <a:stretch>
            <a:fillRect/>
          </a:stretch>
        </p:blipFill>
        <p:spPr>
          <a:xfrm>
            <a:off x="6374200" y="102750"/>
            <a:ext cx="2614700" cy="850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30"/>
          <p:cNvSpPr txBox="1"/>
          <p:nvPr>
            <p:ph type="title"/>
          </p:nvPr>
        </p:nvSpPr>
        <p:spPr>
          <a:xfrm>
            <a:off x="400325" y="273900"/>
            <a:ext cx="5250000" cy="581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6" name="Google Shape;126;p30"/>
          <p:cNvSpPr txBox="1"/>
          <p:nvPr>
            <p:ph idx="1" type="body"/>
          </p:nvPr>
        </p:nvSpPr>
        <p:spPr>
          <a:xfrm>
            <a:off x="311700" y="1152475"/>
            <a:ext cx="8520600" cy="3714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7" name="Google Shape;127;p30" title="Στιγμιότυπο οθόνης 2025-11-06 122517.png"/>
          <p:cNvPicPr preferRelativeResize="0"/>
          <p:nvPr/>
        </p:nvPicPr>
        <p:blipFill>
          <a:blip r:embed="rId3">
            <a:alphaModFix/>
          </a:blip>
          <a:stretch>
            <a:fillRect/>
          </a:stretch>
        </p:blipFill>
        <p:spPr>
          <a:xfrm>
            <a:off x="184675" y="222200"/>
            <a:ext cx="8570224" cy="4593550"/>
          </a:xfrm>
          <a:prstGeom prst="rect">
            <a:avLst/>
          </a:prstGeom>
          <a:noFill/>
          <a:ln>
            <a:noFill/>
          </a:ln>
        </p:spPr>
      </p:pic>
      <p:pic>
        <p:nvPicPr>
          <p:cNvPr id="128" name="Google Shape;128;p30" title="Στιγμιότυπο οθόνης 2025-11-06 122313.png"/>
          <p:cNvPicPr preferRelativeResize="0"/>
          <p:nvPr/>
        </p:nvPicPr>
        <p:blipFill>
          <a:blip r:embed="rId4">
            <a:alphaModFix/>
          </a:blip>
          <a:stretch>
            <a:fillRect/>
          </a:stretch>
        </p:blipFill>
        <p:spPr>
          <a:xfrm>
            <a:off x="6191850" y="0"/>
            <a:ext cx="2853800" cy="923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1"/>
          <p:cNvSpPr txBox="1"/>
          <p:nvPr>
            <p:ph type="title"/>
          </p:nvPr>
        </p:nvSpPr>
        <p:spPr>
          <a:xfrm>
            <a:off x="932100" y="1388600"/>
            <a:ext cx="2125800" cy="27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34" name="Google Shape;134;p31" title="Στιγμιότυπο οθόνης 2025-11-06 122313.png"/>
          <p:cNvPicPr preferRelativeResize="0"/>
          <p:nvPr/>
        </p:nvPicPr>
        <p:blipFill>
          <a:blip r:embed="rId3">
            <a:alphaModFix/>
          </a:blip>
          <a:stretch>
            <a:fillRect/>
          </a:stretch>
        </p:blipFill>
        <p:spPr>
          <a:xfrm>
            <a:off x="6068675" y="97375"/>
            <a:ext cx="2886075" cy="860125"/>
          </a:xfrm>
          <a:prstGeom prst="rect">
            <a:avLst/>
          </a:prstGeom>
          <a:noFill/>
          <a:ln>
            <a:noFill/>
          </a:ln>
        </p:spPr>
      </p:pic>
      <p:pic>
        <p:nvPicPr>
          <p:cNvPr id="135" name="Google Shape;135;p31" title="Στιγμιότυπο οθόνης 2025-11-06 122608.png"/>
          <p:cNvPicPr preferRelativeResize="0"/>
          <p:nvPr/>
        </p:nvPicPr>
        <p:blipFill>
          <a:blip r:embed="rId4">
            <a:alphaModFix/>
          </a:blip>
          <a:stretch>
            <a:fillRect/>
          </a:stretch>
        </p:blipFill>
        <p:spPr>
          <a:xfrm>
            <a:off x="425725" y="957500"/>
            <a:ext cx="8134750" cy="4050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Evaluate the following learning Objectives using SMART </a:t>
            </a:r>
            <a:endParaRPr/>
          </a:p>
        </p:txBody>
      </p:sp>
      <p:sp>
        <p:nvSpPr>
          <p:cNvPr id="141" name="Google Shape;14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By the end of this session participants should be able to: </a:t>
            </a:r>
            <a:endParaRPr/>
          </a:p>
          <a:p>
            <a:pPr indent="-342900" lvl="0" marL="457200" rtl="0" algn="l">
              <a:spcBef>
                <a:spcPts val="1200"/>
              </a:spcBef>
              <a:spcAft>
                <a:spcPts val="0"/>
              </a:spcAft>
              <a:buSzPts val="1800"/>
              <a:buAutoNum type="arabicPeriod"/>
            </a:pPr>
            <a:r>
              <a:rPr lang="el"/>
              <a:t>Know everything about Bloom’s Taxonomy. </a:t>
            </a:r>
            <a:endParaRPr/>
          </a:p>
          <a:p>
            <a:pPr indent="-342900" lvl="0" marL="457200" rtl="0" algn="l">
              <a:spcBef>
                <a:spcPts val="0"/>
              </a:spcBef>
              <a:spcAft>
                <a:spcPts val="0"/>
              </a:spcAft>
              <a:buSzPts val="1800"/>
              <a:buAutoNum type="arabicPeriod"/>
            </a:pPr>
            <a:r>
              <a:rPr lang="el"/>
              <a:t>Understand how to use Bloom’s Taxonomy properly.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 name="Shape 145"/>
        <p:cNvGrpSpPr/>
        <p:nvPr/>
      </p:nvGrpSpPr>
      <p:grpSpPr>
        <a:xfrm>
          <a:off x="0" y="0"/>
          <a:ext cx="0" cy="0"/>
          <a:chOff x="0" y="0"/>
          <a:chExt cx="0" cy="0"/>
        </a:xfrm>
      </p:grpSpPr>
      <p:pic>
        <p:nvPicPr>
          <p:cNvPr id="146" name="Google Shape;146;p33" title="Bloom's Taxonomy.JPG"/>
          <p:cNvPicPr preferRelativeResize="0"/>
          <p:nvPr/>
        </p:nvPicPr>
        <p:blipFill>
          <a:blip r:embed="rId4">
            <a:alphaModFix/>
          </a:blip>
          <a:stretch>
            <a:fillRect/>
          </a:stretch>
        </p:blipFill>
        <p:spPr>
          <a:xfrm>
            <a:off x="0" y="0"/>
            <a:ext cx="9067424" cy="5096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EABCD"/>
        </a:solidFill>
      </p:bgPr>
    </p:bg>
    <p:spTree>
      <p:nvGrpSpPr>
        <p:cNvPr id="150" name="Shape 150"/>
        <p:cNvGrpSpPr/>
        <p:nvPr/>
      </p:nvGrpSpPr>
      <p:grpSpPr>
        <a:xfrm>
          <a:off x="0" y="0"/>
          <a:ext cx="0" cy="0"/>
          <a:chOff x="0" y="0"/>
          <a:chExt cx="0" cy="0"/>
        </a:xfrm>
      </p:grpSpPr>
      <p:pic>
        <p:nvPicPr>
          <p:cNvPr id="151" name="Google Shape;151;p34"/>
          <p:cNvPicPr preferRelativeResize="0"/>
          <p:nvPr/>
        </p:nvPicPr>
        <p:blipFill rotWithShape="1">
          <a:blip r:embed="rId3">
            <a:alphaModFix/>
          </a:blip>
          <a:srcRect b="0" l="90" r="100" t="0"/>
          <a:stretch/>
        </p:blipFill>
        <p:spPr>
          <a:xfrm>
            <a:off x="6457000" y="1645425"/>
            <a:ext cx="2089775" cy="3498075"/>
          </a:xfrm>
          <a:prstGeom prst="rect">
            <a:avLst/>
          </a:prstGeom>
          <a:noFill/>
          <a:ln>
            <a:noFill/>
          </a:ln>
        </p:spPr>
      </p:pic>
      <p:pic>
        <p:nvPicPr>
          <p:cNvPr id="152" name="Google Shape;152;p34"/>
          <p:cNvPicPr preferRelativeResize="0"/>
          <p:nvPr/>
        </p:nvPicPr>
        <p:blipFill>
          <a:blip r:embed="rId4">
            <a:alphaModFix/>
          </a:blip>
          <a:stretch>
            <a:fillRect/>
          </a:stretch>
        </p:blipFill>
        <p:spPr>
          <a:xfrm flipH="1">
            <a:off x="609925" y="413139"/>
            <a:ext cx="6119151" cy="3879860"/>
          </a:xfrm>
          <a:prstGeom prst="rect">
            <a:avLst/>
          </a:prstGeom>
          <a:noFill/>
          <a:ln>
            <a:noFill/>
          </a:ln>
        </p:spPr>
      </p:pic>
      <p:pic>
        <p:nvPicPr>
          <p:cNvPr id="153" name="Google Shape;153;p34">
            <a:hlinkClick r:id="rId5"/>
          </p:cNvPr>
          <p:cNvPicPr preferRelativeResize="0"/>
          <p:nvPr/>
        </p:nvPicPr>
        <p:blipFill>
          <a:blip r:embed="rId6">
            <a:alphaModFix/>
          </a:blip>
          <a:stretch>
            <a:fillRect/>
          </a:stretch>
        </p:blipFill>
        <p:spPr>
          <a:xfrm>
            <a:off x="0" y="4429125"/>
            <a:ext cx="9144000" cy="714375"/>
          </a:xfrm>
          <a:prstGeom prst="rect">
            <a:avLst/>
          </a:prstGeom>
          <a:noFill/>
          <a:ln>
            <a:noFill/>
          </a:ln>
        </p:spPr>
      </p:pic>
      <p:sp>
        <p:nvSpPr>
          <p:cNvPr id="154" name="Google Shape;154;p34"/>
          <p:cNvSpPr txBox="1"/>
          <p:nvPr/>
        </p:nvSpPr>
        <p:spPr>
          <a:xfrm>
            <a:off x="1450050" y="1326925"/>
            <a:ext cx="3687300" cy="22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l" sz="3600">
                <a:solidFill>
                  <a:srgbClr val="0A3534"/>
                </a:solidFill>
                <a:latin typeface="Proxima Nova Semibold"/>
                <a:ea typeface="Proxima Nova Semibold"/>
                <a:cs typeface="Proxima Nova Semibold"/>
                <a:sym typeface="Proxima Nova Semibold"/>
              </a:rPr>
              <a:t>What is a good Objective? </a:t>
            </a:r>
            <a:r>
              <a:rPr lang="el" sz="3600" u="sng">
                <a:solidFill>
                  <a:srgbClr val="38761D"/>
                </a:solidFill>
                <a:latin typeface="Proxima Nova Semibold"/>
                <a:ea typeface="Proxima Nova Semibold"/>
                <a:cs typeface="Proxima Nova Semibold"/>
                <a:sym typeface="Proxima Nova Semibold"/>
              </a:rPr>
              <a:t>Why?</a:t>
            </a:r>
            <a:endParaRPr sz="3600" u="sng">
              <a:solidFill>
                <a:srgbClr val="38761D"/>
              </a:solidFill>
              <a:latin typeface="Proxima Nova Semibold"/>
              <a:ea typeface="Proxima Nova Semibold"/>
              <a:cs typeface="Proxima Nova Semibold"/>
              <a:sym typeface="Proxima Nova Semibold"/>
            </a:endParaRPr>
          </a:p>
          <a:p>
            <a:pPr indent="0" lvl="0" marL="0" rtl="0" algn="ctr">
              <a:spcBef>
                <a:spcPts val="0"/>
              </a:spcBef>
              <a:spcAft>
                <a:spcPts val="0"/>
              </a:spcAft>
              <a:buClr>
                <a:schemeClr val="dk1"/>
              </a:buClr>
              <a:buSzPts val="1100"/>
              <a:buFont typeface="Arial"/>
              <a:buNone/>
            </a:pPr>
            <a:r>
              <a:rPr lang="el" sz="1800">
                <a:solidFill>
                  <a:schemeClr val="dk2"/>
                </a:solidFill>
              </a:rPr>
              <a:t>Be </a:t>
            </a:r>
            <a:r>
              <a:rPr b="1" lang="el" sz="1800">
                <a:solidFill>
                  <a:schemeClr val="dk2"/>
                </a:solidFill>
              </a:rPr>
              <a:t>SMART </a:t>
            </a:r>
            <a:r>
              <a:rPr lang="el" sz="1800">
                <a:solidFill>
                  <a:schemeClr val="dk2"/>
                </a:solidFill>
              </a:rPr>
              <a:t>(Specific, Measurable, Achievable, Realistic, Time-Appropriate)</a:t>
            </a:r>
            <a:endParaRPr sz="3600">
              <a:solidFill>
                <a:srgbClr val="0A3534"/>
              </a:solidFill>
              <a:latin typeface="Proxima Nova Semibold"/>
              <a:ea typeface="Proxima Nova Semibold"/>
              <a:cs typeface="Proxima Nova Semibold"/>
              <a:sym typeface="Proxima Nova Semibold"/>
            </a:endParaRPr>
          </a:p>
        </p:txBody>
      </p:sp>
      <p:sp>
        <p:nvSpPr>
          <p:cNvPr id="155" name="Google Shape;155;p34">
            <a:hlinkClick r:id="rId7"/>
          </p:cNvPr>
          <p:cNvSpPr/>
          <p:nvPr/>
        </p:nvSpPr>
        <p:spPr>
          <a:xfrm>
            <a:off x="-63500" y="-63500"/>
            <a:ext cx="12600" cy="1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EABCD"/>
        </a:solidFill>
      </p:bgPr>
    </p:bg>
    <p:spTree>
      <p:nvGrpSpPr>
        <p:cNvPr id="159" name="Shape 159"/>
        <p:cNvGrpSpPr/>
        <p:nvPr/>
      </p:nvGrpSpPr>
      <p:grpSpPr>
        <a:xfrm>
          <a:off x="0" y="0"/>
          <a:ext cx="0" cy="0"/>
          <a:chOff x="0" y="0"/>
          <a:chExt cx="0" cy="0"/>
        </a:xfrm>
      </p:grpSpPr>
      <p:sp>
        <p:nvSpPr>
          <p:cNvPr id="160" name="Google Shape;160;p35"/>
          <p:cNvSpPr/>
          <p:nvPr/>
        </p:nvSpPr>
        <p:spPr>
          <a:xfrm>
            <a:off x="220050" y="255025"/>
            <a:ext cx="8703900" cy="4475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1" name="Google Shape;161;p35"/>
          <p:cNvCxnSpPr/>
          <p:nvPr/>
        </p:nvCxnSpPr>
        <p:spPr>
          <a:xfrm rot="10800000">
            <a:off x="4431634" y="1366288"/>
            <a:ext cx="0" cy="364500"/>
          </a:xfrm>
          <a:prstGeom prst="straightConnector1">
            <a:avLst/>
          </a:prstGeom>
          <a:noFill/>
          <a:ln cap="flat" cmpd="sng" w="28575">
            <a:solidFill>
              <a:schemeClr val="dk2"/>
            </a:solidFill>
            <a:prstDash val="solid"/>
            <a:round/>
            <a:headEnd len="med" w="med" type="none"/>
            <a:tailEnd len="med" w="med" type="none"/>
          </a:ln>
        </p:spPr>
      </p:cxnSp>
      <p:cxnSp>
        <p:nvCxnSpPr>
          <p:cNvPr id="162" name="Google Shape;162;p35"/>
          <p:cNvCxnSpPr/>
          <p:nvPr/>
        </p:nvCxnSpPr>
        <p:spPr>
          <a:xfrm rot="10800000">
            <a:off x="4416900" y="3634550"/>
            <a:ext cx="0" cy="331800"/>
          </a:xfrm>
          <a:prstGeom prst="straightConnector1">
            <a:avLst/>
          </a:prstGeom>
          <a:noFill/>
          <a:ln cap="flat" cmpd="sng" w="28575">
            <a:solidFill>
              <a:schemeClr val="dk2"/>
            </a:solidFill>
            <a:prstDash val="solid"/>
            <a:round/>
            <a:headEnd len="med" w="med" type="none"/>
            <a:tailEnd len="med" w="med" type="none"/>
          </a:ln>
        </p:spPr>
      </p:cxnSp>
      <p:cxnSp>
        <p:nvCxnSpPr>
          <p:cNvPr id="163" name="Google Shape;163;p35"/>
          <p:cNvCxnSpPr>
            <a:endCxn id="164" idx="3"/>
          </p:cNvCxnSpPr>
          <p:nvPr/>
        </p:nvCxnSpPr>
        <p:spPr>
          <a:xfrm rot="10800000">
            <a:off x="5410375" y="2717951"/>
            <a:ext cx="384000" cy="2100"/>
          </a:xfrm>
          <a:prstGeom prst="straightConnector1">
            <a:avLst/>
          </a:prstGeom>
          <a:noFill/>
          <a:ln cap="flat" cmpd="sng" w="28575">
            <a:solidFill>
              <a:schemeClr val="dk2"/>
            </a:solidFill>
            <a:prstDash val="solid"/>
            <a:round/>
            <a:headEnd len="med" w="med" type="none"/>
            <a:tailEnd len="med" w="med" type="none"/>
          </a:ln>
        </p:spPr>
      </p:cxnSp>
      <p:cxnSp>
        <p:nvCxnSpPr>
          <p:cNvPr id="165" name="Google Shape;165;p35"/>
          <p:cNvCxnSpPr>
            <a:stCxn id="164" idx="1"/>
          </p:cNvCxnSpPr>
          <p:nvPr/>
        </p:nvCxnSpPr>
        <p:spPr>
          <a:xfrm rot="10800000">
            <a:off x="3113275" y="2712851"/>
            <a:ext cx="516900" cy="5100"/>
          </a:xfrm>
          <a:prstGeom prst="straightConnector1">
            <a:avLst/>
          </a:prstGeom>
          <a:noFill/>
          <a:ln cap="flat" cmpd="sng" w="28575">
            <a:solidFill>
              <a:schemeClr val="dk2"/>
            </a:solidFill>
            <a:prstDash val="solid"/>
            <a:round/>
            <a:headEnd len="med" w="med" type="none"/>
            <a:tailEnd len="med" w="med" type="none"/>
          </a:ln>
        </p:spPr>
      </p:cxnSp>
      <p:pic>
        <p:nvPicPr>
          <p:cNvPr id="166" name="Google Shape;166;p35"/>
          <p:cNvPicPr preferRelativeResize="0"/>
          <p:nvPr/>
        </p:nvPicPr>
        <p:blipFill rotWithShape="1">
          <a:blip r:embed="rId3">
            <a:alphaModFix/>
          </a:blip>
          <a:srcRect b="9230" l="8441" r="8065" t="8803"/>
          <a:stretch/>
        </p:blipFill>
        <p:spPr>
          <a:xfrm>
            <a:off x="3310175" y="1617017"/>
            <a:ext cx="2242925" cy="2201870"/>
          </a:xfrm>
          <a:prstGeom prst="rect">
            <a:avLst/>
          </a:prstGeom>
          <a:noFill/>
          <a:ln>
            <a:noFill/>
          </a:ln>
        </p:spPr>
      </p:pic>
      <p:sp>
        <p:nvSpPr>
          <p:cNvPr id="167" name="Google Shape;167;p35"/>
          <p:cNvSpPr txBox="1"/>
          <p:nvPr>
            <p:ph type="title"/>
          </p:nvPr>
        </p:nvSpPr>
        <p:spPr>
          <a:xfrm>
            <a:off x="520950" y="428125"/>
            <a:ext cx="8102100" cy="464700"/>
          </a:xfrm>
          <a:prstGeom prst="rect">
            <a:avLst/>
          </a:prstGeom>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l" sz="2200">
                <a:solidFill>
                  <a:srgbClr val="0A3534"/>
                </a:solidFill>
                <a:latin typeface="Proxima Nova Semibold"/>
                <a:ea typeface="Proxima Nova Semibold"/>
                <a:cs typeface="Proxima Nova Semibold"/>
                <a:sym typeface="Proxima Nova Semibold"/>
              </a:rPr>
              <a:t>Can you identify the weaknesses?</a:t>
            </a:r>
            <a:r>
              <a:rPr lang="el" sz="2200">
                <a:solidFill>
                  <a:srgbClr val="0A3534"/>
                </a:solidFill>
                <a:latin typeface="Proxima Nova Semibold"/>
                <a:ea typeface="Proxima Nova Semibold"/>
                <a:cs typeface="Proxima Nova Semibold"/>
                <a:sym typeface="Proxima Nova Semibold"/>
              </a:rPr>
              <a:t> Draw or type anywhere:</a:t>
            </a:r>
            <a:endParaRPr sz="2200"/>
          </a:p>
        </p:txBody>
      </p:sp>
      <p:sp>
        <p:nvSpPr>
          <p:cNvPr id="164" name="Google Shape;164;p35"/>
          <p:cNvSpPr txBox="1"/>
          <p:nvPr/>
        </p:nvSpPr>
        <p:spPr>
          <a:xfrm>
            <a:off x="3630175" y="1812551"/>
            <a:ext cx="1780200" cy="181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l" sz="1000">
                <a:solidFill>
                  <a:schemeClr val="lt1"/>
                </a:solidFill>
                <a:latin typeface="Proxima Nova"/>
                <a:ea typeface="Proxima Nova"/>
                <a:cs typeface="Proxima Nova"/>
                <a:sym typeface="Proxima Nova"/>
              </a:rPr>
              <a:t>At the end of this course (undergraduate, one semester), students should be able to perform open-heart surgery successfully.</a:t>
            </a:r>
            <a:endParaRPr b="1" sz="1100">
              <a:solidFill>
                <a:schemeClr val="lt1"/>
              </a:solidFill>
              <a:latin typeface="Proxima Nova"/>
              <a:ea typeface="Proxima Nova"/>
              <a:cs typeface="Proxima Nova"/>
              <a:sym typeface="Proxima Nova"/>
            </a:endParaRPr>
          </a:p>
        </p:txBody>
      </p:sp>
      <p:pic>
        <p:nvPicPr>
          <p:cNvPr id="168" name="Google Shape;168;p35">
            <a:hlinkClick r:id="rId4"/>
          </p:cNvPr>
          <p:cNvPicPr preferRelativeResize="0"/>
          <p:nvPr/>
        </p:nvPicPr>
        <p:blipFill>
          <a:blip r:embed="rId5">
            <a:alphaModFix/>
          </a:blip>
          <a:stretch>
            <a:fillRect/>
          </a:stretch>
        </p:blipFill>
        <p:spPr>
          <a:xfrm>
            <a:off x="0" y="4429125"/>
            <a:ext cx="9144000" cy="714375"/>
          </a:xfrm>
          <a:prstGeom prst="rect">
            <a:avLst/>
          </a:prstGeom>
          <a:noFill/>
          <a:ln>
            <a:noFill/>
          </a:ln>
        </p:spPr>
      </p:pic>
      <p:sp>
        <p:nvSpPr>
          <p:cNvPr id="169" name="Google Shape;169;p35">
            <a:hlinkClick r:id="rId6"/>
          </p:cNvPr>
          <p:cNvSpPr/>
          <p:nvPr/>
        </p:nvSpPr>
        <p:spPr>
          <a:xfrm>
            <a:off x="-63500" y="-63500"/>
            <a:ext cx="12600" cy="1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EABCD"/>
        </a:solidFill>
      </p:bgPr>
    </p:bg>
    <p:spTree>
      <p:nvGrpSpPr>
        <p:cNvPr id="173" name="Shape 173"/>
        <p:cNvGrpSpPr/>
        <p:nvPr/>
      </p:nvGrpSpPr>
      <p:grpSpPr>
        <a:xfrm>
          <a:off x="0" y="0"/>
          <a:ext cx="0" cy="0"/>
          <a:chOff x="0" y="0"/>
          <a:chExt cx="0" cy="0"/>
        </a:xfrm>
      </p:grpSpPr>
      <p:sp>
        <p:nvSpPr>
          <p:cNvPr id="174" name="Google Shape;174;p36"/>
          <p:cNvSpPr/>
          <p:nvPr/>
        </p:nvSpPr>
        <p:spPr>
          <a:xfrm>
            <a:off x="231025" y="255025"/>
            <a:ext cx="5206800" cy="4475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roxima Nova"/>
              <a:ea typeface="Proxima Nova"/>
              <a:cs typeface="Proxima Nova"/>
              <a:sym typeface="Proxima Nova"/>
            </a:endParaRPr>
          </a:p>
        </p:txBody>
      </p:sp>
      <p:pic>
        <p:nvPicPr>
          <p:cNvPr id="175" name="Google Shape;175;p36"/>
          <p:cNvPicPr preferRelativeResize="0"/>
          <p:nvPr/>
        </p:nvPicPr>
        <p:blipFill>
          <a:blip r:embed="rId3">
            <a:alphaModFix/>
          </a:blip>
          <a:stretch>
            <a:fillRect/>
          </a:stretch>
        </p:blipFill>
        <p:spPr>
          <a:xfrm>
            <a:off x="0" y="4429113"/>
            <a:ext cx="9144000" cy="714375"/>
          </a:xfrm>
          <a:prstGeom prst="rect">
            <a:avLst/>
          </a:prstGeom>
          <a:noFill/>
          <a:ln>
            <a:noFill/>
          </a:ln>
        </p:spPr>
      </p:pic>
      <p:sp>
        <p:nvSpPr>
          <p:cNvPr id="176" name="Google Shape;176;p36"/>
          <p:cNvSpPr txBox="1"/>
          <p:nvPr/>
        </p:nvSpPr>
        <p:spPr>
          <a:xfrm>
            <a:off x="554025" y="398525"/>
            <a:ext cx="4644000" cy="8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300">
                <a:solidFill>
                  <a:srgbClr val="0A3534"/>
                </a:solidFill>
                <a:latin typeface="Proxima Nova Semibold"/>
                <a:ea typeface="Proxima Nova Semibold"/>
                <a:cs typeface="Proxima Nova Semibold"/>
                <a:sym typeface="Proxima Nova Semibold"/>
              </a:rPr>
              <a:t>For this activity you will evaluate the following Objective: </a:t>
            </a:r>
            <a:endParaRPr sz="1300">
              <a:solidFill>
                <a:srgbClr val="0A3534"/>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sz="700">
              <a:solidFill>
                <a:srgbClr val="0A3534"/>
              </a:solidFill>
              <a:latin typeface="Proxima Nova Semibold"/>
              <a:ea typeface="Proxima Nova Semibold"/>
              <a:cs typeface="Proxima Nova Semibold"/>
              <a:sym typeface="Proxima Nova Semibold"/>
            </a:endParaRPr>
          </a:p>
          <a:p>
            <a:pPr indent="0" lvl="0" marL="0" rtl="0" algn="l">
              <a:spcBef>
                <a:spcPts val="0"/>
              </a:spcBef>
              <a:spcAft>
                <a:spcPts val="0"/>
              </a:spcAft>
              <a:buClr>
                <a:schemeClr val="dk1"/>
              </a:buClr>
              <a:buSzPts val="1100"/>
              <a:buFont typeface="Arial"/>
              <a:buNone/>
            </a:pPr>
            <a:r>
              <a:rPr b="1" lang="el" sz="1200">
                <a:solidFill>
                  <a:srgbClr val="0B5394"/>
                </a:solidFill>
              </a:rPr>
              <a:t>By the end of this session, (undergraduate) students should know how to use AI properly.</a:t>
            </a:r>
            <a:endParaRPr b="1" sz="1800">
              <a:solidFill>
                <a:srgbClr val="0B5394"/>
              </a:solidFill>
              <a:latin typeface="Proxima Nova"/>
              <a:ea typeface="Proxima Nova"/>
              <a:cs typeface="Proxima Nova"/>
              <a:sym typeface="Proxima Nova"/>
            </a:endParaRPr>
          </a:p>
        </p:txBody>
      </p:sp>
      <p:pic>
        <p:nvPicPr>
          <p:cNvPr id="177" name="Google Shape;177;p36"/>
          <p:cNvPicPr preferRelativeResize="0"/>
          <p:nvPr/>
        </p:nvPicPr>
        <p:blipFill>
          <a:blip r:embed="rId4">
            <a:alphaModFix/>
          </a:blip>
          <a:stretch>
            <a:fillRect/>
          </a:stretch>
        </p:blipFill>
        <p:spPr>
          <a:xfrm>
            <a:off x="5005200" y="1957428"/>
            <a:ext cx="4138801" cy="2772998"/>
          </a:xfrm>
          <a:prstGeom prst="rect">
            <a:avLst/>
          </a:prstGeom>
          <a:noFill/>
          <a:ln>
            <a:noFill/>
          </a:ln>
        </p:spPr>
      </p:pic>
      <p:sp>
        <p:nvSpPr>
          <p:cNvPr id="178" name="Google Shape;178;p36"/>
          <p:cNvSpPr txBox="1"/>
          <p:nvPr/>
        </p:nvSpPr>
        <p:spPr>
          <a:xfrm>
            <a:off x="492475" y="1158325"/>
            <a:ext cx="4644000" cy="351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980000"/>
                </a:solidFill>
                <a:latin typeface="Proxima Nova Semibold"/>
                <a:ea typeface="Proxima Nova Semibold"/>
                <a:cs typeface="Proxima Nova Semibold"/>
                <a:sym typeface="Proxima Nova Semibold"/>
              </a:rPr>
              <a:t>Step One</a:t>
            </a:r>
            <a:endParaRPr sz="1800">
              <a:solidFill>
                <a:srgbClr val="980000"/>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l" sz="1200">
                <a:solidFill>
                  <a:srgbClr val="0A3534"/>
                </a:solidFill>
                <a:latin typeface="Proxima Nova"/>
                <a:ea typeface="Proxima Nova"/>
                <a:cs typeface="Proxima Nova"/>
                <a:sym typeface="Proxima Nova"/>
              </a:rPr>
              <a:t>What makes this objective unclear?</a:t>
            </a:r>
            <a:r>
              <a:rPr lang="el" sz="1800">
                <a:solidFill>
                  <a:srgbClr val="0A3534"/>
                </a:solidFill>
                <a:latin typeface="Proxima Nova"/>
                <a:ea typeface="Proxima Nova"/>
                <a:cs typeface="Proxima Nova"/>
                <a:sym typeface="Proxima Nova"/>
              </a:rPr>
              <a:t> </a:t>
            </a:r>
            <a:endParaRPr sz="1800">
              <a:solidFill>
                <a:srgbClr val="0A3534"/>
              </a:solidFill>
              <a:latin typeface="Proxima Nova"/>
              <a:ea typeface="Proxima Nova"/>
              <a:cs typeface="Proxima Nova"/>
              <a:sym typeface="Proxima Nova"/>
            </a:endParaRPr>
          </a:p>
          <a:p>
            <a:pPr indent="0" lvl="0" marL="0" rtl="0" algn="l">
              <a:spcBef>
                <a:spcPts val="0"/>
              </a:spcBef>
              <a:spcAft>
                <a:spcPts val="0"/>
              </a:spcAft>
              <a:buNone/>
            </a:pPr>
            <a:r>
              <a:rPr lang="el" sz="1200">
                <a:solidFill>
                  <a:srgbClr val="0A3534"/>
                </a:solidFill>
                <a:latin typeface="Proxima Nova"/>
                <a:ea typeface="Proxima Nova"/>
                <a:cs typeface="Proxima Nova"/>
                <a:sym typeface="Proxima Nova"/>
              </a:rPr>
              <a:t>Which parts make it hard to measure of assess?</a:t>
            </a:r>
            <a:endParaRPr sz="1200">
              <a:solidFill>
                <a:srgbClr val="0A3534"/>
              </a:solidFill>
              <a:latin typeface="Proxima Nova"/>
              <a:ea typeface="Proxima Nova"/>
              <a:cs typeface="Proxima Nova"/>
              <a:sym typeface="Proxima Nova"/>
            </a:endParaRPr>
          </a:p>
          <a:p>
            <a:pPr indent="0" lvl="0" marL="0" rtl="0" algn="l">
              <a:spcBef>
                <a:spcPts val="0"/>
              </a:spcBef>
              <a:spcAft>
                <a:spcPts val="0"/>
              </a:spcAft>
              <a:buNone/>
            </a:pPr>
            <a:r>
              <a:rPr lang="el" sz="1000">
                <a:solidFill>
                  <a:srgbClr val="38761D"/>
                </a:solidFill>
                <a:latin typeface="Proxima Nova Semibold"/>
                <a:ea typeface="Proxima Nova Semibold"/>
                <a:cs typeface="Proxima Nova Semibold"/>
                <a:sym typeface="Proxima Nova Semibold"/>
              </a:rPr>
              <a:t>(Note down issues such as: Vague verb, ambiguous terms, not measurable, not clear context)</a:t>
            </a:r>
            <a:endParaRPr sz="1000">
              <a:solidFill>
                <a:srgbClr val="38761D"/>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sz="1000">
              <a:solidFill>
                <a:srgbClr val="38761D"/>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l" sz="1800">
                <a:solidFill>
                  <a:srgbClr val="980000"/>
                </a:solidFill>
                <a:latin typeface="Proxima Nova Semibold"/>
                <a:ea typeface="Proxima Nova Semibold"/>
                <a:cs typeface="Proxima Nova Semibold"/>
                <a:sym typeface="Proxima Nova Semibold"/>
              </a:rPr>
              <a:t>Step Two</a:t>
            </a:r>
            <a:endParaRPr sz="1800">
              <a:solidFill>
                <a:srgbClr val="980000"/>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l" sz="1200">
                <a:solidFill>
                  <a:srgbClr val="0A3534"/>
                </a:solidFill>
                <a:latin typeface="Proxima Nova"/>
                <a:ea typeface="Proxima Nova"/>
                <a:cs typeface="Proxima Nova"/>
                <a:sym typeface="Proxima Nova"/>
              </a:rPr>
              <a:t>Rewrite the Objective to make it clear. Think about the following: </a:t>
            </a:r>
            <a:endParaRPr sz="1200">
              <a:solidFill>
                <a:srgbClr val="0A3534"/>
              </a:solidFill>
              <a:latin typeface="Proxima Nova"/>
              <a:ea typeface="Proxima Nova"/>
              <a:cs typeface="Proxima Nova"/>
              <a:sym typeface="Proxima Nova"/>
            </a:endParaRPr>
          </a:p>
          <a:p>
            <a:pPr indent="-304800" lvl="0" marL="457200" rtl="0" algn="l">
              <a:spcBef>
                <a:spcPts val="0"/>
              </a:spcBef>
              <a:spcAft>
                <a:spcPts val="0"/>
              </a:spcAft>
              <a:buClr>
                <a:srgbClr val="0A3534"/>
              </a:buClr>
              <a:buSzPts val="1200"/>
              <a:buFont typeface="Proxima Nova"/>
              <a:buChar char="➢"/>
            </a:pPr>
            <a:r>
              <a:rPr lang="el" sz="1200">
                <a:solidFill>
                  <a:srgbClr val="0A3534"/>
                </a:solidFill>
                <a:latin typeface="Proxima Nova"/>
                <a:ea typeface="Proxima Nova"/>
                <a:cs typeface="Proxima Nova"/>
                <a:sym typeface="Proxima Nova"/>
              </a:rPr>
              <a:t>What do students actually do to demonstrate learning</a:t>
            </a:r>
            <a:endParaRPr sz="1200">
              <a:solidFill>
                <a:srgbClr val="0A3534"/>
              </a:solidFill>
              <a:latin typeface="Proxima Nova"/>
              <a:ea typeface="Proxima Nova"/>
              <a:cs typeface="Proxima Nova"/>
              <a:sym typeface="Proxima Nova"/>
            </a:endParaRPr>
          </a:p>
          <a:p>
            <a:pPr indent="-304800" lvl="0" marL="457200" rtl="0" algn="l">
              <a:spcBef>
                <a:spcPts val="0"/>
              </a:spcBef>
              <a:spcAft>
                <a:spcPts val="0"/>
              </a:spcAft>
              <a:buClr>
                <a:srgbClr val="0A3534"/>
              </a:buClr>
              <a:buSzPts val="1200"/>
              <a:buFont typeface="Proxima Nova"/>
              <a:buChar char="➢"/>
            </a:pPr>
            <a:r>
              <a:rPr lang="el" sz="1200">
                <a:solidFill>
                  <a:srgbClr val="0A3534"/>
                </a:solidFill>
                <a:latin typeface="Proxima Nova"/>
                <a:ea typeface="Proxima Nova"/>
                <a:cs typeface="Proxima Nova"/>
                <a:sym typeface="Proxima Nova"/>
              </a:rPr>
              <a:t>What kind of AI use should be addressed eg writing, research, ethical decision making?</a:t>
            </a:r>
            <a:endParaRPr sz="1200">
              <a:solidFill>
                <a:srgbClr val="0A3534"/>
              </a:solidFill>
              <a:latin typeface="Proxima Nova"/>
              <a:ea typeface="Proxima Nova"/>
              <a:cs typeface="Proxima Nova"/>
              <a:sym typeface="Proxima Nova"/>
            </a:endParaRPr>
          </a:p>
          <a:p>
            <a:pPr indent="0" lvl="0" marL="0" rtl="0" algn="l">
              <a:spcBef>
                <a:spcPts val="0"/>
              </a:spcBef>
              <a:spcAft>
                <a:spcPts val="0"/>
              </a:spcAft>
              <a:buNone/>
            </a:pPr>
            <a:r>
              <a:t/>
            </a:r>
            <a:endParaRPr sz="600">
              <a:solidFill>
                <a:srgbClr val="0A3534"/>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l" sz="1800">
                <a:solidFill>
                  <a:srgbClr val="980000"/>
                </a:solidFill>
                <a:latin typeface="Proxima Nova Semibold"/>
                <a:ea typeface="Proxima Nova Semibold"/>
                <a:cs typeface="Proxima Nova Semibold"/>
                <a:sym typeface="Proxima Nova Semibold"/>
              </a:rPr>
              <a:t>Step Three</a:t>
            </a:r>
            <a:endParaRPr sz="1800">
              <a:solidFill>
                <a:srgbClr val="980000"/>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l" sz="1200">
                <a:solidFill>
                  <a:srgbClr val="0A3534"/>
                </a:solidFill>
                <a:latin typeface="Proxima Nova"/>
                <a:ea typeface="Proxima Nova"/>
                <a:cs typeface="Proxima Nova"/>
                <a:sym typeface="Proxima Nova"/>
              </a:rPr>
              <a:t>Present your revised learning Objectives. Discussion: </a:t>
            </a:r>
            <a:endParaRPr sz="1200">
              <a:solidFill>
                <a:srgbClr val="0A3534"/>
              </a:solidFill>
              <a:latin typeface="Proxima Nova"/>
              <a:ea typeface="Proxima Nova"/>
              <a:cs typeface="Proxima Nova"/>
              <a:sym typeface="Proxima Nova"/>
            </a:endParaRPr>
          </a:p>
          <a:p>
            <a:pPr indent="-304800" lvl="0" marL="457200" rtl="0" algn="l">
              <a:spcBef>
                <a:spcPts val="0"/>
              </a:spcBef>
              <a:spcAft>
                <a:spcPts val="0"/>
              </a:spcAft>
              <a:buClr>
                <a:srgbClr val="0A3534"/>
              </a:buClr>
              <a:buSzPts val="1200"/>
              <a:buFont typeface="Proxima Nova"/>
              <a:buChar char="➢"/>
            </a:pPr>
            <a:r>
              <a:rPr lang="el" sz="1200">
                <a:solidFill>
                  <a:srgbClr val="0A3534"/>
                </a:solidFill>
                <a:latin typeface="Proxima Nova"/>
                <a:ea typeface="Proxima Nova"/>
                <a:cs typeface="Proxima Nova"/>
                <a:sym typeface="Proxima Nova"/>
              </a:rPr>
              <a:t>Which Cognitive level each objective targets?</a:t>
            </a:r>
            <a:endParaRPr sz="1200">
              <a:solidFill>
                <a:srgbClr val="0A3534"/>
              </a:solidFill>
              <a:latin typeface="Proxima Nova"/>
              <a:ea typeface="Proxima Nova"/>
              <a:cs typeface="Proxima Nova"/>
              <a:sym typeface="Proxima Nova"/>
            </a:endParaRPr>
          </a:p>
          <a:p>
            <a:pPr indent="-304800" lvl="0" marL="457200" rtl="0" algn="l">
              <a:spcBef>
                <a:spcPts val="0"/>
              </a:spcBef>
              <a:spcAft>
                <a:spcPts val="0"/>
              </a:spcAft>
              <a:buClr>
                <a:srgbClr val="0A3534"/>
              </a:buClr>
              <a:buSzPts val="1200"/>
              <a:buFont typeface="Proxima Nova"/>
              <a:buChar char="➢"/>
            </a:pPr>
            <a:r>
              <a:rPr lang="el" sz="1200">
                <a:solidFill>
                  <a:srgbClr val="0A3534"/>
                </a:solidFill>
                <a:latin typeface="Proxima Nova"/>
                <a:ea typeface="Proxima Nova"/>
                <a:cs typeface="Proxima Nova"/>
                <a:sym typeface="Proxima Nova"/>
              </a:rPr>
              <a:t>How precise wording improves the ability to assess Learning objectives? </a:t>
            </a:r>
            <a:endParaRPr sz="1200">
              <a:solidFill>
                <a:srgbClr val="0A3534"/>
              </a:solidFill>
              <a:latin typeface="Proxima Nova"/>
              <a:ea typeface="Proxima Nova"/>
              <a:cs typeface="Proxima Nova"/>
              <a:sym typeface="Proxima Nova"/>
            </a:endParaRPr>
          </a:p>
        </p:txBody>
      </p:sp>
      <p:sp>
        <p:nvSpPr>
          <p:cNvPr id="179" name="Google Shape;179;p36"/>
          <p:cNvSpPr txBox="1"/>
          <p:nvPr/>
        </p:nvSpPr>
        <p:spPr>
          <a:xfrm>
            <a:off x="5706675" y="533500"/>
            <a:ext cx="2904600" cy="374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2200">
                <a:solidFill>
                  <a:srgbClr val="FFFFFF"/>
                </a:solidFill>
                <a:latin typeface="Proxima Nova"/>
                <a:ea typeface="Proxima Nova"/>
                <a:cs typeface="Proxima Nova"/>
                <a:sym typeface="Proxima Nova"/>
              </a:rPr>
              <a:t>Make the Learning Objective Clear</a:t>
            </a:r>
            <a:endParaRPr b="1" sz="22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7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l" sz="1800">
                <a:solidFill>
                  <a:srgbClr val="FFFFFF"/>
                </a:solidFill>
                <a:latin typeface="Proxima Nova"/>
                <a:ea typeface="Proxima Nova"/>
                <a:cs typeface="Proxima Nova"/>
                <a:sym typeface="Proxima Nova"/>
              </a:rPr>
              <a:t>Work individually but if you finish early you can always offer to help your peers. </a:t>
            </a:r>
            <a:endParaRPr sz="1800">
              <a:solidFill>
                <a:srgbClr val="FFFFFF"/>
              </a:solidFill>
              <a:latin typeface="Proxima Nova"/>
              <a:ea typeface="Proxima Nova"/>
              <a:cs typeface="Proxima Nova"/>
              <a:sym typeface="Proxima Nova"/>
            </a:endParaRPr>
          </a:p>
        </p:txBody>
      </p:sp>
      <p:pic>
        <p:nvPicPr>
          <p:cNvPr descr="This is a Pear Deck interactive slide. Students, write your response." id="180" name="Google Shape;180;p36" title="This is a Pear Deck interactive slide. Students, write your response.">
            <a:hlinkClick r:id="rId5"/>
          </p:cNvPr>
          <p:cNvPicPr preferRelativeResize="0"/>
          <p:nvPr/>
        </p:nvPicPr>
        <p:blipFill>
          <a:blip r:embed="rId6">
            <a:alphaModFix/>
          </a:blip>
          <a:stretch>
            <a:fillRect/>
          </a:stretch>
        </p:blipFill>
        <p:spPr>
          <a:xfrm>
            <a:off x="0" y="4429125"/>
            <a:ext cx="9144000" cy="714375"/>
          </a:xfrm>
          <a:prstGeom prst="rect">
            <a:avLst/>
          </a:prstGeom>
          <a:noFill/>
          <a:ln>
            <a:noFill/>
          </a:ln>
        </p:spPr>
      </p:pic>
      <p:sp>
        <p:nvSpPr>
          <p:cNvPr id="181" name="Google Shape;181;p36">
            <a:hlinkClick r:id="rId7"/>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A61C00"/>
                </a:solidFill>
              </a:rPr>
              <a:t>Examples of </a:t>
            </a:r>
            <a:r>
              <a:rPr lang="el">
                <a:solidFill>
                  <a:srgbClr val="A61C00"/>
                </a:solidFill>
              </a:rPr>
              <a:t>improved</a:t>
            </a:r>
            <a:r>
              <a:rPr lang="el">
                <a:solidFill>
                  <a:srgbClr val="A61C00"/>
                </a:solidFill>
              </a:rPr>
              <a:t> Objectives</a:t>
            </a:r>
            <a:endParaRPr>
              <a:solidFill>
                <a:srgbClr val="A61C00"/>
              </a:solidFill>
            </a:endParaRPr>
          </a:p>
        </p:txBody>
      </p:sp>
      <p:sp>
        <p:nvSpPr>
          <p:cNvPr id="187" name="Google Shape;187;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i="1" lang="el">
                <a:solidFill>
                  <a:srgbClr val="0B5394"/>
                </a:solidFill>
              </a:rPr>
              <a:t>By the end of this session, students will be able to:</a:t>
            </a:r>
            <a:r>
              <a:rPr i="1" lang="el">
                <a:solidFill>
                  <a:schemeClr val="dk1"/>
                </a:solidFill>
              </a:rPr>
              <a:t> </a:t>
            </a:r>
            <a:r>
              <a:rPr b="1" i="1" lang="el">
                <a:solidFill>
                  <a:srgbClr val="980000"/>
                </a:solidFill>
              </a:rPr>
              <a:t>identify</a:t>
            </a:r>
            <a:r>
              <a:rPr i="1" lang="el">
                <a:solidFill>
                  <a:schemeClr val="dk1"/>
                </a:solidFill>
              </a:rPr>
              <a:t> </a:t>
            </a:r>
            <a:r>
              <a:rPr i="1" lang="el">
                <a:solidFill>
                  <a:srgbClr val="0B5394"/>
                </a:solidFill>
              </a:rPr>
              <a:t>examples of appropriate and inappropriate uses of AI in academic writing.</a:t>
            </a:r>
            <a:endParaRPr i="1">
              <a:solidFill>
                <a:srgbClr val="0B5394"/>
              </a:solidFill>
            </a:endParaRPr>
          </a:p>
          <a:p>
            <a:pPr indent="0" lvl="0" marL="457200" rtl="0" algn="l">
              <a:spcBef>
                <a:spcPts val="1200"/>
              </a:spcBef>
              <a:spcAft>
                <a:spcPts val="0"/>
              </a:spcAft>
              <a:buNone/>
            </a:pPr>
            <a:r>
              <a:t/>
            </a:r>
            <a:endParaRPr i="1" sz="100">
              <a:solidFill>
                <a:schemeClr val="dk1"/>
              </a:solidFill>
            </a:endParaRPr>
          </a:p>
          <a:p>
            <a:pPr indent="-342900" lvl="0" marL="457200" rtl="0" algn="l">
              <a:spcBef>
                <a:spcPts val="1200"/>
              </a:spcBef>
              <a:spcAft>
                <a:spcPts val="0"/>
              </a:spcAft>
              <a:buClr>
                <a:schemeClr val="dk1"/>
              </a:buClr>
              <a:buSzPts val="1800"/>
              <a:buChar char="●"/>
            </a:pPr>
            <a:r>
              <a:rPr i="1" lang="el">
                <a:solidFill>
                  <a:srgbClr val="0B5394"/>
                </a:solidFill>
              </a:rPr>
              <a:t>By the end of this session, students will be able to:</a:t>
            </a:r>
            <a:r>
              <a:rPr i="1" lang="el">
                <a:solidFill>
                  <a:schemeClr val="dk1"/>
                </a:solidFill>
              </a:rPr>
              <a:t> </a:t>
            </a:r>
            <a:r>
              <a:rPr b="1" i="1" lang="el">
                <a:solidFill>
                  <a:srgbClr val="980000"/>
                </a:solidFill>
              </a:rPr>
              <a:t>apply</a:t>
            </a:r>
            <a:r>
              <a:rPr i="1" lang="el">
                <a:solidFill>
                  <a:schemeClr val="dk1"/>
                </a:solidFill>
              </a:rPr>
              <a:t> </a:t>
            </a:r>
            <a:r>
              <a:rPr i="1" lang="el">
                <a:solidFill>
                  <a:srgbClr val="0B5394"/>
                </a:solidFill>
              </a:rPr>
              <a:t>institutional guidelines to evaluate whether an AI-generated text meets academic integrity standards.</a:t>
            </a:r>
            <a:endParaRPr i="1">
              <a:solidFill>
                <a:srgbClr val="0B5394"/>
              </a:solidFill>
            </a:endParaRPr>
          </a:p>
          <a:p>
            <a:pPr indent="0" lvl="0" marL="457200" rtl="0" algn="l">
              <a:spcBef>
                <a:spcPts val="1200"/>
              </a:spcBef>
              <a:spcAft>
                <a:spcPts val="0"/>
              </a:spcAft>
              <a:buNone/>
            </a:pPr>
            <a:r>
              <a:t/>
            </a:r>
            <a:endParaRPr i="1" sz="100">
              <a:solidFill>
                <a:schemeClr val="dk1"/>
              </a:solidFill>
            </a:endParaRPr>
          </a:p>
          <a:p>
            <a:pPr indent="-342900" lvl="0" marL="457200" rtl="0" algn="l">
              <a:spcBef>
                <a:spcPts val="1200"/>
              </a:spcBef>
              <a:spcAft>
                <a:spcPts val="0"/>
              </a:spcAft>
              <a:buClr>
                <a:schemeClr val="dk1"/>
              </a:buClr>
              <a:buSzPts val="1800"/>
              <a:buChar char="●"/>
            </a:pPr>
            <a:r>
              <a:rPr i="1" lang="el">
                <a:solidFill>
                  <a:srgbClr val="0B5394"/>
                </a:solidFill>
              </a:rPr>
              <a:t>By the end of this session, students will be able to:</a:t>
            </a:r>
            <a:r>
              <a:rPr i="1" lang="el">
                <a:solidFill>
                  <a:schemeClr val="dk1"/>
                </a:solidFill>
              </a:rPr>
              <a:t> </a:t>
            </a:r>
            <a:r>
              <a:rPr b="1" i="1" lang="el">
                <a:solidFill>
                  <a:srgbClr val="980000"/>
                </a:solidFill>
              </a:rPr>
              <a:t>explain</a:t>
            </a:r>
            <a:r>
              <a:rPr i="1" lang="el">
                <a:solidFill>
                  <a:schemeClr val="dk1"/>
                </a:solidFill>
              </a:rPr>
              <a:t> </a:t>
            </a:r>
            <a:r>
              <a:rPr i="1" lang="el">
                <a:solidFill>
                  <a:srgbClr val="0B5394"/>
                </a:solidFill>
              </a:rPr>
              <a:t>how to acknowledge AI assistance in written assignments according to referencing conventions.</a:t>
            </a:r>
            <a:endParaRPr i="1">
              <a:solidFill>
                <a:srgbClr val="0B5394"/>
              </a:solidFill>
            </a:endParaRPr>
          </a:p>
          <a:p>
            <a:pPr indent="0" lvl="0" marL="0" rtl="0" algn="l">
              <a:spcBef>
                <a:spcPts val="1200"/>
              </a:spcBef>
              <a:spcAft>
                <a:spcPts val="0"/>
              </a:spcAft>
              <a:buClr>
                <a:schemeClr val="dk1"/>
              </a:buClr>
              <a:buSzPts val="1100"/>
              <a:buFont typeface="Arial"/>
              <a:buNone/>
            </a:pPr>
            <a:r>
              <a:rPr lang="el" sz="1100">
                <a:solidFill>
                  <a:schemeClr val="dk1"/>
                </a:solidFill>
              </a:rPr>
              <a:t> </a:t>
            </a:r>
            <a:endParaRPr sz="1100">
              <a:solidFill>
                <a:schemeClr val="dk1"/>
              </a:solidFill>
            </a:endParaRPr>
          </a:p>
          <a:p>
            <a:pPr indent="0" lvl="0" marL="0" rtl="0" algn="l">
              <a:spcBef>
                <a:spcPts val="1200"/>
              </a:spcBef>
              <a:spcAft>
                <a:spcPts val="0"/>
              </a:spcAft>
              <a:buClr>
                <a:schemeClr val="dk1"/>
              </a:buClr>
              <a:buSzPts val="1100"/>
              <a:buFont typeface="Arial"/>
              <a:buNone/>
            </a:pPr>
            <a:r>
              <a:rPr lang="el" sz="1100">
                <a:solidFill>
                  <a:schemeClr val="dk1"/>
                </a:solidFill>
              </a:rPr>
              <a:t> </a:t>
            </a:r>
            <a:endParaRPr sz="1100">
              <a:solidFill>
                <a:schemeClr val="dk1"/>
              </a:solidFill>
            </a:endParaRPr>
          </a:p>
          <a:p>
            <a:pPr indent="0" lvl="0" marL="0" rtl="0" algn="l">
              <a:spcBef>
                <a:spcPts val="12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Constructive alignment</a:t>
            </a:r>
            <a:endParaRPr/>
          </a:p>
        </p:txBody>
      </p:sp>
      <p:sp>
        <p:nvSpPr>
          <p:cNvPr id="193" name="Google Shape;193;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sz="1100">
                <a:solidFill>
                  <a:schemeClr val="dk1"/>
                </a:solidFill>
              </a:rPr>
              <a:t>The principle that </a:t>
            </a:r>
            <a:r>
              <a:rPr b="1" lang="el" sz="1100">
                <a:solidFill>
                  <a:schemeClr val="dk1"/>
                </a:solidFill>
              </a:rPr>
              <a:t>learning objectives, teaching activities, and assessment tasks should all align</a:t>
            </a:r>
            <a:r>
              <a:rPr lang="el" sz="1100">
                <a:solidFill>
                  <a:schemeClr val="dk1"/>
                </a:solidFill>
              </a:rPr>
              <a:t>.</a:t>
            </a:r>
            <a:endParaRPr sz="1100">
              <a:solidFill>
                <a:schemeClr val="dk1"/>
              </a:solidFill>
            </a:endParaRPr>
          </a:p>
          <a:p>
            <a:pPr indent="0" lvl="0" marL="0" rtl="0" algn="l">
              <a:spcBef>
                <a:spcPts val="1600"/>
              </a:spcBef>
              <a:spcAft>
                <a:spcPts val="0"/>
              </a:spcAft>
              <a:buNone/>
            </a:pPr>
            <a:r>
              <a:t/>
            </a:r>
            <a:endParaRPr sz="600">
              <a:solidFill>
                <a:schemeClr val="dk1"/>
              </a:solidFill>
            </a:endParaRPr>
          </a:p>
          <a:p>
            <a:pPr indent="0" lvl="0" marL="0" rtl="0" algn="l">
              <a:spcBef>
                <a:spcPts val="1200"/>
              </a:spcBef>
              <a:spcAft>
                <a:spcPts val="0"/>
              </a:spcAft>
              <a:buNone/>
            </a:pPr>
            <a:r>
              <a:t/>
            </a:r>
            <a:endParaRPr sz="600">
              <a:solidFill>
                <a:schemeClr val="dk1"/>
              </a:solidFill>
            </a:endParaRPr>
          </a:p>
          <a:p>
            <a:pPr indent="0" lvl="0" marL="0" rtl="0" algn="l">
              <a:spcBef>
                <a:spcPts val="1200"/>
              </a:spcBef>
              <a:spcAft>
                <a:spcPts val="0"/>
              </a:spcAft>
              <a:buNone/>
            </a:pPr>
            <a:r>
              <a:t/>
            </a:r>
            <a:endParaRPr sz="600">
              <a:solidFill>
                <a:schemeClr val="dk1"/>
              </a:solidFill>
            </a:endParaRPr>
          </a:p>
          <a:p>
            <a:pPr indent="0" lvl="0" marL="0" rtl="0" algn="l">
              <a:spcBef>
                <a:spcPts val="1200"/>
              </a:spcBef>
              <a:spcAft>
                <a:spcPts val="0"/>
              </a:spcAft>
              <a:buNone/>
            </a:pPr>
            <a:r>
              <a:t/>
            </a:r>
            <a:endParaRPr sz="600">
              <a:solidFill>
                <a:schemeClr val="dk1"/>
              </a:solidFill>
            </a:endParaRPr>
          </a:p>
          <a:p>
            <a:pPr indent="0" lvl="0" marL="0" rtl="0" algn="l">
              <a:spcBef>
                <a:spcPts val="1200"/>
              </a:spcBef>
              <a:spcAft>
                <a:spcPts val="0"/>
              </a:spcAft>
              <a:buNone/>
            </a:pPr>
            <a:r>
              <a:t/>
            </a:r>
            <a:endParaRPr sz="600">
              <a:solidFill>
                <a:schemeClr val="dk1"/>
              </a:solidFill>
            </a:endParaRPr>
          </a:p>
          <a:p>
            <a:pPr indent="0" lvl="0" marL="457200" rtl="0" algn="l">
              <a:spcBef>
                <a:spcPts val="1200"/>
              </a:spcBef>
              <a:spcAft>
                <a:spcPts val="1600"/>
              </a:spcAft>
              <a:buNone/>
            </a:pPr>
            <a:r>
              <a:t/>
            </a:r>
            <a:endParaRPr sz="800">
              <a:solidFill>
                <a:schemeClr val="dk1"/>
              </a:solidFill>
            </a:endParaRPr>
          </a:p>
        </p:txBody>
      </p:sp>
      <p:pic>
        <p:nvPicPr>
          <p:cNvPr id="194" name="Google Shape;194;p38" title="Constructive alignment .png"/>
          <p:cNvPicPr preferRelativeResize="0"/>
          <p:nvPr/>
        </p:nvPicPr>
        <p:blipFill>
          <a:blip r:embed="rId3">
            <a:alphaModFix/>
          </a:blip>
          <a:stretch>
            <a:fillRect/>
          </a:stretch>
        </p:blipFill>
        <p:spPr>
          <a:xfrm>
            <a:off x="649750" y="1935651"/>
            <a:ext cx="7297649" cy="2040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9"/>
          <p:cNvSpPr txBox="1"/>
          <p:nvPr>
            <p:ph type="title"/>
          </p:nvPr>
        </p:nvSpPr>
        <p:spPr>
          <a:xfrm>
            <a:off x="311700" y="445025"/>
            <a:ext cx="5959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Learning Objectives of this session</a:t>
            </a:r>
            <a:endParaRPr/>
          </a:p>
        </p:txBody>
      </p:sp>
      <p:sp>
        <p:nvSpPr>
          <p:cNvPr id="200" name="Google Shape;200;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l"/>
              <a:t>By the end of this session the participants should be able to: </a:t>
            </a:r>
            <a:endParaRPr/>
          </a:p>
          <a:p>
            <a:pPr indent="-334327" lvl="0" marL="457200" rtl="0" algn="l">
              <a:spcBef>
                <a:spcPts val="1200"/>
              </a:spcBef>
              <a:spcAft>
                <a:spcPts val="0"/>
              </a:spcAft>
              <a:buSzPct val="100000"/>
              <a:buAutoNum type="arabicPeriod"/>
            </a:pPr>
            <a:r>
              <a:rPr lang="el"/>
              <a:t>Evaluate learning Objectives</a:t>
            </a:r>
            <a:endParaRPr/>
          </a:p>
          <a:p>
            <a:pPr indent="-334327" lvl="0" marL="457200" rtl="0" algn="l">
              <a:spcBef>
                <a:spcPts val="0"/>
              </a:spcBef>
              <a:spcAft>
                <a:spcPts val="0"/>
              </a:spcAft>
              <a:buSzPct val="100000"/>
              <a:buAutoNum type="arabicPeriod"/>
            </a:pPr>
            <a:r>
              <a:rPr lang="el"/>
              <a:t>Write a well-defined </a:t>
            </a:r>
            <a:r>
              <a:rPr lang="el"/>
              <a:t>learning</a:t>
            </a:r>
            <a:r>
              <a:rPr lang="el"/>
              <a:t> objective using Bloom’s Taxonomy </a:t>
            </a:r>
            <a:endParaRPr>
              <a:solidFill>
                <a:srgbClr val="F1C232"/>
              </a:solidFill>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l">
                <a:solidFill>
                  <a:srgbClr val="B45F06"/>
                </a:solidFill>
              </a:rPr>
              <a:t>When writing Learning Objectives we need to think of what we want the learners to achieve</a:t>
            </a:r>
            <a:endParaRPr b="1">
              <a:solidFill>
                <a:srgbClr val="B45F06"/>
              </a:solidFill>
            </a:endParaRPr>
          </a:p>
          <a:p>
            <a:pPr indent="0" lvl="0" marL="0" rtl="0" algn="l">
              <a:spcBef>
                <a:spcPts val="1200"/>
              </a:spcBef>
              <a:spcAft>
                <a:spcPts val="0"/>
              </a:spcAft>
              <a:buNone/>
            </a:pPr>
            <a:r>
              <a:rPr b="1" lang="el">
                <a:solidFill>
                  <a:srgbClr val="980000"/>
                </a:solidFill>
              </a:rPr>
              <a:t>Start with an action verb</a:t>
            </a:r>
            <a:r>
              <a:rPr b="1" lang="el"/>
              <a:t> </a:t>
            </a:r>
            <a:r>
              <a:rPr lang="el"/>
              <a:t>(eg create, evaluate, analyse, apply, </a:t>
            </a:r>
            <a:r>
              <a:rPr lang="el"/>
              <a:t>explain</a:t>
            </a:r>
            <a:r>
              <a:rPr lang="el"/>
              <a:t>) and </a:t>
            </a:r>
            <a:r>
              <a:rPr b="1" lang="el">
                <a:solidFill>
                  <a:srgbClr val="980000"/>
                </a:solidFill>
              </a:rPr>
              <a:t>BE SMART</a:t>
            </a:r>
            <a:endParaRPr b="1">
              <a:solidFill>
                <a:srgbClr val="980000"/>
              </a:solidFill>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solidFill>
                <a:srgbClr val="1C4587"/>
              </a:solidFill>
            </a:endParaRPr>
          </a:p>
        </p:txBody>
      </p:sp>
      <p:pic>
        <p:nvPicPr>
          <p:cNvPr id="201" name="Google Shape;201;p39" title="Στιγμιότυπο οθόνης 2025-11-06 122313.png"/>
          <p:cNvPicPr preferRelativeResize="0"/>
          <p:nvPr/>
        </p:nvPicPr>
        <p:blipFill>
          <a:blip r:embed="rId3">
            <a:alphaModFix/>
          </a:blip>
          <a:stretch>
            <a:fillRect/>
          </a:stretch>
        </p:blipFill>
        <p:spPr>
          <a:xfrm>
            <a:off x="6507150" y="110575"/>
            <a:ext cx="2466975" cy="907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EABCD"/>
        </a:solidFill>
      </p:bgPr>
    </p:bg>
    <p:spTree>
      <p:nvGrpSpPr>
        <p:cNvPr id="205" name="Shape 205"/>
        <p:cNvGrpSpPr/>
        <p:nvPr/>
      </p:nvGrpSpPr>
      <p:grpSpPr>
        <a:xfrm>
          <a:off x="0" y="0"/>
          <a:ext cx="0" cy="0"/>
          <a:chOff x="0" y="0"/>
          <a:chExt cx="0" cy="0"/>
        </a:xfrm>
      </p:grpSpPr>
      <p:pic>
        <p:nvPicPr>
          <p:cNvPr id="206" name="Google Shape;206;p40"/>
          <p:cNvPicPr preferRelativeResize="0"/>
          <p:nvPr/>
        </p:nvPicPr>
        <p:blipFill>
          <a:blip r:embed="rId3">
            <a:alphaModFix/>
          </a:blip>
          <a:stretch>
            <a:fillRect/>
          </a:stretch>
        </p:blipFill>
        <p:spPr>
          <a:xfrm>
            <a:off x="4368555" y="154975"/>
            <a:ext cx="4549140" cy="5143500"/>
          </a:xfrm>
          <a:prstGeom prst="rect">
            <a:avLst/>
          </a:prstGeom>
          <a:noFill/>
          <a:ln>
            <a:noFill/>
          </a:ln>
        </p:spPr>
      </p:pic>
      <p:sp>
        <p:nvSpPr>
          <p:cNvPr id="207" name="Google Shape;207;p40"/>
          <p:cNvSpPr txBox="1"/>
          <p:nvPr/>
        </p:nvSpPr>
        <p:spPr>
          <a:xfrm>
            <a:off x="520775" y="701300"/>
            <a:ext cx="4361100" cy="36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3600">
                <a:solidFill>
                  <a:srgbClr val="FFFFFF"/>
                </a:solidFill>
                <a:latin typeface="Proxima Nova Semibold"/>
                <a:ea typeface="Proxima Nova Semibold"/>
                <a:cs typeface="Proxima Nova Semibold"/>
                <a:sym typeface="Proxima Nova Semibold"/>
              </a:rPr>
              <a:t>In one minute, </a:t>
            </a:r>
            <a:br>
              <a:rPr lang="el" sz="3600">
                <a:solidFill>
                  <a:srgbClr val="FFFFFF"/>
                </a:solidFill>
                <a:latin typeface="Proxima Nova Semibold"/>
                <a:ea typeface="Proxima Nova Semibold"/>
                <a:cs typeface="Proxima Nova Semibold"/>
                <a:sym typeface="Proxima Nova Semibold"/>
              </a:rPr>
            </a:br>
            <a:r>
              <a:rPr lang="el" sz="3600">
                <a:solidFill>
                  <a:srgbClr val="FFFFFF"/>
                </a:solidFill>
                <a:latin typeface="Proxima Nova Semibold"/>
                <a:ea typeface="Proxima Nova Semibold"/>
                <a:cs typeface="Proxima Nova Semibold"/>
                <a:sym typeface="Proxima Nova Semibold"/>
              </a:rPr>
              <a:t>write the most important thing from today’s </a:t>
            </a:r>
            <a:br>
              <a:rPr lang="el" sz="3600">
                <a:solidFill>
                  <a:srgbClr val="FFFFFF"/>
                </a:solidFill>
                <a:latin typeface="Proxima Nova Semibold"/>
                <a:ea typeface="Proxima Nova Semibold"/>
                <a:cs typeface="Proxima Nova Semibold"/>
                <a:sym typeface="Proxima Nova Semibold"/>
              </a:rPr>
            </a:br>
            <a:r>
              <a:rPr lang="el" sz="3600">
                <a:solidFill>
                  <a:srgbClr val="FFFFFF"/>
                </a:solidFill>
                <a:latin typeface="Proxima Nova Semibold"/>
                <a:ea typeface="Proxima Nova Semibold"/>
                <a:cs typeface="Proxima Nova Semibold"/>
                <a:sym typeface="Proxima Nova Semibold"/>
              </a:rPr>
              <a:t>session.</a:t>
            </a:r>
            <a:endParaRPr sz="3600">
              <a:solidFill>
                <a:srgbClr val="FFFFFF"/>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l" sz="3600">
                <a:solidFill>
                  <a:srgbClr val="FFFFFF"/>
                </a:solidFill>
                <a:latin typeface="Proxima Nova Semibold"/>
                <a:ea typeface="Proxima Nova Semibold"/>
                <a:cs typeface="Proxima Nova Semibold"/>
                <a:sym typeface="Proxima Nova Semibold"/>
              </a:rPr>
              <a:t>Thank</a:t>
            </a:r>
            <a:r>
              <a:rPr lang="el" sz="3600">
                <a:solidFill>
                  <a:srgbClr val="FFFFFF"/>
                </a:solidFill>
                <a:latin typeface="Proxima Nova Semibold"/>
                <a:ea typeface="Proxima Nova Semibold"/>
                <a:cs typeface="Proxima Nova Semibold"/>
                <a:sym typeface="Proxima Nova Semibold"/>
              </a:rPr>
              <a:t> you! </a:t>
            </a:r>
            <a:br>
              <a:rPr lang="el" sz="3600">
                <a:solidFill>
                  <a:srgbClr val="FFFFFF"/>
                </a:solidFill>
                <a:latin typeface="Proxima Nova Semibold"/>
                <a:ea typeface="Proxima Nova Semibold"/>
                <a:cs typeface="Proxima Nova Semibold"/>
                <a:sym typeface="Proxima Nova Semibold"/>
              </a:rPr>
            </a:br>
            <a:endParaRPr sz="3600">
              <a:solidFill>
                <a:srgbClr val="FFFFFF"/>
              </a:solidFill>
              <a:latin typeface="Proxima Nova Semibold"/>
              <a:ea typeface="Proxima Nova Semibold"/>
              <a:cs typeface="Proxima Nova Semibold"/>
              <a:sym typeface="Proxima Nova Semibold"/>
            </a:endParaRPr>
          </a:p>
        </p:txBody>
      </p:sp>
      <p:pic>
        <p:nvPicPr>
          <p:cNvPr id="208" name="Google Shape;208;p40">
            <a:hlinkClick r:id="rId4"/>
          </p:cNvPr>
          <p:cNvPicPr preferRelativeResize="0"/>
          <p:nvPr/>
        </p:nvPicPr>
        <p:blipFill>
          <a:blip r:embed="rId5">
            <a:alphaModFix/>
          </a:blip>
          <a:stretch>
            <a:fillRect/>
          </a:stretch>
        </p:blipFill>
        <p:spPr>
          <a:xfrm>
            <a:off x="0" y="4429125"/>
            <a:ext cx="9144000" cy="714375"/>
          </a:xfrm>
          <a:prstGeom prst="rect">
            <a:avLst/>
          </a:prstGeom>
          <a:noFill/>
          <a:ln>
            <a:noFill/>
          </a:ln>
        </p:spPr>
      </p:pic>
      <p:sp>
        <p:nvSpPr>
          <p:cNvPr id="209" name="Google Shape;209;p40">
            <a:hlinkClick r:id="rId6"/>
          </p:cNvPr>
          <p:cNvSpPr/>
          <p:nvPr/>
        </p:nvSpPr>
        <p:spPr>
          <a:xfrm>
            <a:off x="-63500" y="-63500"/>
            <a:ext cx="12600" cy="1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